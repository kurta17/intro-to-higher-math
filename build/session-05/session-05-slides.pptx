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notesMaster" Target="notesMasters/notes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slide" Target="slides/slide13.xml"/>
<Relationship Id="rId16" Type="http://schemas.openxmlformats.org/officeDocument/2006/relationships/slide" Target="slides/slide14.xml"/>
<Relationship Id="rId17" Type="http://schemas.openxmlformats.org/officeDocument/2006/relationships/slide" Target="slides/slide15.xml"/>
<Relationship Id="rId18" Type="http://schemas.openxmlformats.org/officeDocument/2006/relationships/slide" Target="slides/slide16.xml"/>
<Relationship Id="rId19" Type="http://schemas.openxmlformats.org/officeDocument/2006/relationships/slide" Target="slides/slide17.xml"/>
<Relationship Id="rId20" Type="http://schemas.openxmlformats.org/officeDocument/2006/relationships/slide" Target="slides/slide18.xml"/>
<Relationship Id="rId21" Type="http://schemas.openxmlformats.org/officeDocument/2006/relationships/slide" Target="slides/slide19.xml"/>
<Relationship Id="rId22" Type="http://schemas.openxmlformats.org/officeDocument/2006/relationships/slide" Target="slides/slide20.xml"/>
<Relationship Id="rId23" Type="http://schemas.openxmlformats.org/officeDocument/2006/relationships/slide" Target="slides/slide21.xml"/>
<Relationship Id="rId24" Type="http://schemas.openxmlformats.org/officeDocument/2006/relationships/slide" Target="slides/slide22.xml"/>
<Relationship Id="rId25" Type="http://schemas.openxmlformats.org/officeDocument/2006/relationships/slide" Target="slides/slide23.xml"/>
<Relationship Id="rId26" Type="http://schemas.openxmlformats.org/officeDocument/2006/relationships/slide" Target="slides/slide24.xml"/>
<Relationship Id="rId27" Type="http://schemas.openxmlformats.org/officeDocument/2006/relationships/slide" Target="slides/slide25.xml"/>
<Relationship Id="rId28" Type="http://schemas.openxmlformats.org/officeDocument/2006/relationships/slide" Target="slides/slide26.xml"/>
<Relationship Id="rId29" Type="http://schemas.openxmlformats.org/officeDocument/2006/relationships/slide" Target="slides/slide27.xml"/>
<Relationship Id="rId30" Type="http://schemas.openxmlformats.org/officeDocument/2006/relationships/theme" Target="theme/theme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0" y="0"/>
            <a:ext cx="6858000" cy="12192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an answer is not yet a proof. In this session, students learn a small number of dependable proof structures and practise choosing between them.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5 is the course pivot. Sets and functions supplied precise language; today students use that language to justify claims. Session 6 turns one of these proof ideas into a method for infinitely many cases.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for the difference between checking three examples and proving a statement. Accept the idea that examples can suggest a pattern, but the proof must cover every allowed case.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students do not need to memorise a proof word for word. They need to recognise the shape of the argument and explain why each line follows.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quantifiers in ordinary English. For the last row, ask for a witness such as $n=3$ or $n=-3$. Do not present a proof of $x^2\geq0$ here; it is used as a familiar fact about real numbers.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identify $P$ and $Q$ in the example. The definitions at the bottom prepare a direct proof without using unfamiliar divisibility notation.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counterexample $2$ is enough because the converse makes a claim about every even integer. Leave the inverse form for a later logic course; it is not needed for today's proof methods.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should write complete sentences, not only symbols. Encourage them to keep $P$ and $Q$ visible while reversing and negating them.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the answers only after pairs have committed. "Not even" and "odd" are equivalent for integers; say that this equivalence is special to integers, not to all number systems.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"arbitrary" is essential: a proof about every integer cannot secretly choose a convenient integer. Point out that definitions turn informal labels such as "even" into algebra that can be used.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proof's shape: the hypothesis supplies $a=2r$ and $b=2s$; the calculation produces the definition of "even" for $a+b$. The sentence "$r+s$ is an integer" closes a common hidden gap.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give the answer immediately. If a pair writes $a=2k$ but does not say $k\in\mathbb Z$, prompt them to make the definition explicit.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one pair to identify the exact line that uses the hypothesis. Emphasise that the proof works for every integer $b$, including negative values and zero.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the scheduled break before this section. On return, connect the new methods to the same goal: make an implication unavoidable.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"same failure situation" is a compact proof of the equivalence: the contrapositive fails when $\neg Q$ is true and $\neg P$ is false, which means $Q$ is false and $P$ is true. Do not call contraposition a trick; it is an equivalence.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odd as "$2k+1$ for an integer $k$." The last sentence is not a new, unsupported jump: it uses the logical equivalence on the previous slide.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difference between a contradiction proof and an invalid proof that quietly assumes two incompatible things. The goal is to show that the chosen negation cannot occur.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squaring is legal: both sides of $\sqrt2=p/q$ are equal, so their squares are equal. The "lowest terms" condition is the fact we will contradict; students should see it before the algebra begins.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contradiction explicit: "no common factor greater than $1$" conflicts with "both are divisible by $2$." The proof uses the contrapositive theorem twice; this shows that proof methods can support each other.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more than one method can sometimes work; students should select the method that makes the hypothesis usable. The expected choices are direct proof, contrapositive, and contradiction respectively.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first row, invite the room to finish: $a+b=2(r+s+1)$. For the second, point out that the contrapositive does not require expanding an odd square. For the third, state that the rest of the proof was just completed.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domain carefully before accepting a counterexample. For example, $x=-1$ would not disprove a claim only about positive real numbers. Contrast the two directions of quantifiers: one witness disproves "for every," but does not disprove "there exists."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may use $n=1$ or $n=0$ in item 2. For item 4, encourage the class to use the universal fact from item 1, rather than a list of unsuccessful trials.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students say the domain in item 4: real numbers. The final sentence is a preview of the quantifier-negation rule on the next slide.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last row, add the boundary: checking every member can prove a statement when the stated domain is finite. In this course, "a few examples" is never a proof of an infinite universal statement.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results: 1. $m+n=2(r+s+1)$ after writing $m=2r+1$, $n=2s+1$. 2. Use the proof from Slide 16. 3. $x=1$ gives $2&gt;2$, which is false. 4. "There exists a real $x$ such that $x^2\leq x$." Collect a small sample before students leave.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students to name one situation in which they would choose a counterexample rather than a proof. Remind them the problem set is practice, not assessment — but the reasoning is the whole point of doing it.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png"/>
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0.png"/>
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1.png"/>
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2.png"/>
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3.png"/>
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4.png"/>
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5.png"/>
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6.png"/>
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7.png"/>
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8.png"/>
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9.png"/>
<Relationship Id="rId3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0.png"/>
<Relationship Id="rId3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1.png"/>
<Relationship Id="rId3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2.png"/>
<Relationship Id="rId3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3.png"/>
<Relationship Id="rId3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4.png"/>
<Relationship Id="rId3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5.png"/>
<Relationship Id="rId3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6.png"/>
<Relationship Id="rId3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7.png"/>
<Relationship Id="rId3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S deck">
  <a:themeElements>
    <a:clrScheme name="HS">
      <a:dk1>
        <a:sysClr val="windowText" lastClr="000000"/>
      </a:dk1>
      <a:lt1>
        <a:sysClr val="window" lastClr="FFFFFF"/>
      </a:lt1>
      <a:dk2>
        <a:srgbClr val="1B1B1B"/>
      </a:dk2>
      <a:lt2>
        <a:srgbClr val="F5F5F5"/>
      </a:lt2>
      <a:accent1>
        <a:srgbClr val="4B2696"/>
      </a:accent1>
      <a:accent2>
        <a:srgbClr val="FF3BC7"/>
      </a:accent2>
      <a:accent3>
        <a:srgbClr val="7A47EA"/>
      </a:accent3>
      <a:accent4>
        <a:srgbClr val="00A3C4"/>
      </a:accent4>
      <a:accent5>
        <a:srgbClr val="0F9D58"/>
      </a:accent5>
      <a:accent6>
        <a:srgbClr val="D93025"/>
      </a:accent6>
      <a:hlink>
        <a:srgbClr val="4B2696"/>
      </a:hlink>
      <a:folHlink>
        <a:srgbClr val="7A47EA"/>
      </a:folHlink>
    </a:clrScheme>
    <a:fontScheme name="HS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H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S notes">
  <a:themeElements>
    <a:clrScheme name="HS">
      <a:dk1>
        <a:sysClr val="windowText" lastClr="000000"/>
      </a:dk1>
      <a:lt1>
        <a:sysClr val="window" lastClr="FFFFFF"/>
      </a:lt1>
      <a:dk2>
        <a:srgbClr val="1B1B1B"/>
      </a:dk2>
      <a:lt2>
        <a:srgbClr val="F5F5F5"/>
      </a:lt2>
      <a:accent1>
        <a:srgbClr val="4B2696"/>
      </a:accent1>
      <a:accent2>
        <a:srgbClr val="FF3BC7"/>
      </a:accent2>
      <a:accent3>
        <a:srgbClr val="7A47EA"/>
      </a:accent3>
      <a:accent4>
        <a:srgbClr val="00A3C4"/>
      </a:accent4>
      <a:accent5>
        <a:srgbClr val="0F9D58"/>
      </a:accent5>
      <a:accent6>
        <a:srgbClr val="D93025"/>
      </a:accent6>
      <a:hlink>
        <a:srgbClr val="4B2696"/>
      </a:hlink>
      <a:folHlink>
        <a:srgbClr val="7A47EA"/>
      </a:folHlink>
    </a:clrScheme>
    <a:fontScheme name="HS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H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