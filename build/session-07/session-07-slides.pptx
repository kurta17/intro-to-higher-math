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notesMaster" Target="notesMasters/notes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Relationship Id="rId22" Type="http://schemas.openxmlformats.org/officeDocument/2006/relationships/slide" Target="slides/slide20.xml"/>
<Relationship Id="rId23" Type="http://schemas.openxmlformats.org/officeDocument/2006/relationships/slide" Target="slides/slide21.xml"/>
<Relationship Id="rId24" Type="http://schemas.openxmlformats.org/officeDocument/2006/relationships/slide" Target="slides/slide22.xml"/>
<Relationship Id="rId25" Type="http://schemas.openxmlformats.org/officeDocument/2006/relationships/slide" Target="slides/slide23.xml"/>
<Relationship Id="rId26" Type="http://schemas.openxmlformats.org/officeDocument/2006/relationships/slide" Target="slides/slide24.xml"/>
<Relationship Id="rId27" Type="http://schemas.openxmlformats.org/officeDocument/2006/relationships/slide" Target="slides/slide25.xml"/>
<Relationship Id="rId28" Type="http://schemas.openxmlformats.org/officeDocument/2006/relationships/slide" Target="slides/slide26.xml"/>
<Relationship Id="rId29" Type="http://schemas.openxmlformats.org/officeDocument/2006/relationships/slide" Target="slides/slide27.xml"/>
<Relationship Id="rId30" Type="http://schemas.openxmlformats.org/officeDocument/2006/relationships/slide" Target="slides/slide28.xml"/>
<Relationship Id="rId31" Type="http://schemas.openxmlformats.org/officeDocument/2006/relationships/slide" Target="slides/slide29.xml"/>
<Relationship Id="rId32" Type="http://schemas.openxmlformats.org/officeDocument/2006/relationships/slide" Target="slides/slide30.xml"/>
<Relationship Id="rId33" Type="http://schemas.openxmlformats.org/officeDocument/2006/relationships/theme" Target="theme/theme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6858000" cy="12192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3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Counting is not about choosing a formula first. Students should first say what one outcome is, whether order matters, and whether repetition is allowed.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backwards to induction: many counting formulas can later be proved by induction. Connect forwards to the midterm: students need to justify why their chosen counting rule matches the question.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two names, A and B. Choosing a two-person committee gives one outcome, but choosing a president and a secretary gives two possible ordered outcomes. This distinction drives the rest of the lesson.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"disjoint" in everyday language: one outcome cannot belong to two cases at the same time. This is the condition students often omit when using addition.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concrete. Ask the class to explain why the first list uses braces and the second does not. Braces represent an unordered set.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condition. If a course were listed in both groups, adding would count it twice. Inclusion–exclusion is the repair for overlapping cases, but it is beyond today's core material.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phrase "for each first choice" matters. The rule still works if the number of second-stage choices changes, but then multiply the relevant branch sizes and add the disjoint branches.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pairs not to calculate immediately. They should first write five multiplication slots. The statement about zero prevents students from treating the code as a five-digit number.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choosing the first letter does not reduce the digit choices: letters and digits are different kinds of symbols. Only a previous letter restricts a later letter here.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"distinct" is essential. Do not apply $n!$ unchanged when some objects are identical. The definition of $0!$ is useful for binomial coefficients later.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$P(6,3)$ as "permutations of 6 things taken 3 at a time." The formula assumes $0\le r\le n$ and distinct candidates.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write "order matters" or "order does not matter" before any formula. Question 2 deliberately introduces combinations before the formula appears; it should be identified, not yet calculated.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to combinations. The final sentence explains exactly why a permutation count is too large for an unordered selection.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scheduled break before this section. On return, ask for the number of shelf orders of the particular five books A, B, C, D, E: it is $5!$. This motivates the division in the next slide.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directly to the previous slide: $P(n,r)=n!/(n-r)!$, then divide by $r!$. Give the small example that ABC, ACB, BAC, BCA, CAB, and CBA are the six orders of the same three-person group.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multiply by an unnecessary $5!$. A hand has no first card, second card, and so on, so both choices are combinations. The two stages produce disjoint card types, so the product rule connects them.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digits and candidates are distinct. The contrast between items 2 and 3 should be made explicit: the same three people can form one representatives group but six different three-role assignments.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arithmetic on the board: $\binom{20}{3}=20\cdot19\cdot18/(3\cdot2\cdot1)=1{,}140$. This makes the "divide by $3!$" idea concrete.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reversible matching: take a selected subset and send it to its complement. This is a bijection, so the two sets of choices have equal size. Both proofs are deliberately short and visible.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double counting: both methods count the same collection, not two different collections that happen to have the same answer. For $n=3$, students can list the eight subsets as a check.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"binomial" means an expression with two terms, such as $a+b$. Do not assume students know this vocabulary.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row $n=4$ to read $\binom42=6$. The last formula is Pascal's identity; its usual combinatorial proof separates a $k$-person choice according to whether one particular person is selected.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check $n=2$: $(a+b)^2=a^2+2ab+b^2$. The formula includes the endpoints because $\binom n0=\binom nn=1$ and $a^0=b^0=1$.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unsimplified line visible long enough for students to trace the source of every term. In particular, the exponent on $x$ plus the exponent on $2$ is always $5$.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example $(a+b)^3$. The term $ab^2$ comes from choosing $b$ from exactly two factors; the possible choices are factors $12$, $13$, and $23$, so its coefficient is $3=\binom32$.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let students distribute only once and stop. The sign alternates because the power of $-3$ alternates between positive and negative values.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students to check one middle coefficient independently: $6(2x)^2(-3)^2=6\cdot4x^2\cdot9=216x^2$. This isolates a common arithmetic error.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principle guarantees that a repeated category exists; it does not identify which category. The last sentence prevents a common overstatement of the conclusion.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answers: 1. $4+3=7$, sum rule, because the drink types are disjoint choices. 2. $\binom93=84$. 3. $\binom52x^3(2^2)$ gives coefficient $40$. 4. A shelf order matters, so each chosen group has $3!$ different orders.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asking students to say the key diagnostic question before choosing a formula: "Does order matter?" Remind them that a correct number with an unexplained model is not a complete solution.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png"/>
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2.png"/>
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3.png"/>
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4.png"/>
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5.png"/>
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6.png"/>
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7.png"/>
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8.png"/>
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9.png"/>
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0.png"/>
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1.png"/>
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2.png"/>
<Relationship Id="rId3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3.png"/>
<Relationship Id="rId3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4.png"/>
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5.png"/>
<Relationship Id="rId3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6.png"/>
<Relationship Id="rId3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7.png"/>
<Relationship Id="rId3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8.png"/>
<Relationship Id="rId3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9.png"/>
<Relationship Id="rId3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0.png"/>
<Relationship Id="rId3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S deck">
  <a:themeElements>
    <a:clrScheme name="HS">
      <a:dk1>
        <a:sysClr val="windowText" lastClr="000000"/>
      </a:dk1>
      <a:lt1>
        <a:sysClr val="window" lastClr="FFFFFF"/>
      </a:lt1>
      <a:dk2>
        <a:srgbClr val="1B1B1B"/>
      </a:dk2>
      <a:lt2>
        <a:srgbClr val="F5F5F5"/>
      </a:lt2>
      <a:accent1>
        <a:srgbClr val="4B2696"/>
      </a:accent1>
      <a:accent2>
        <a:srgbClr val="FF3BC7"/>
      </a:accent2>
      <a:accent3>
        <a:srgbClr val="7A47EA"/>
      </a:accent3>
      <a:accent4>
        <a:srgbClr val="00A3C4"/>
      </a:accent4>
      <a:accent5>
        <a:srgbClr val="0F9D58"/>
      </a:accent5>
      <a:accent6>
        <a:srgbClr val="D93025"/>
      </a:accent6>
      <a:hlink>
        <a:srgbClr val="4B2696"/>
      </a:hlink>
      <a:folHlink>
        <a:srgbClr val="7A47EA"/>
      </a:folHlink>
    </a:clrScheme>
    <a:fontScheme name="H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S notes">
  <a:themeElements>
    <a:clrScheme name="HS">
      <a:dk1>
        <a:sysClr val="windowText" lastClr="000000"/>
      </a:dk1>
      <a:lt1>
        <a:sysClr val="window" lastClr="FFFFFF"/>
      </a:lt1>
      <a:dk2>
        <a:srgbClr val="1B1B1B"/>
      </a:dk2>
      <a:lt2>
        <a:srgbClr val="F5F5F5"/>
      </a:lt2>
      <a:accent1>
        <a:srgbClr val="4B2696"/>
      </a:accent1>
      <a:accent2>
        <a:srgbClr val="FF3BC7"/>
      </a:accent2>
      <a:accent3>
        <a:srgbClr val="7A47EA"/>
      </a:accent3>
      <a:accent4>
        <a:srgbClr val="00A3C4"/>
      </a:accent4>
      <a:accent5>
        <a:srgbClr val="0F9D58"/>
      </a:accent5>
      <a:accent6>
        <a:srgbClr val="D93025"/>
      </a:accent6>
      <a:hlink>
        <a:srgbClr val="4B2696"/>
      </a:hlink>
      <a:folHlink>
        <a:srgbClr val="7A47EA"/>
      </a:folHlink>
    </a:clrScheme>
    <a:fontScheme name="H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