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notesMaster" Target="notesMasters/notesMaster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Relationship Id="rId11" Type="http://schemas.openxmlformats.org/officeDocument/2006/relationships/slide" Target="slides/slide9.xml"/>
<Relationship Id="rId12" Type="http://schemas.openxmlformats.org/officeDocument/2006/relationships/slide" Target="slides/slide10.xml"/>
<Relationship Id="rId13" Type="http://schemas.openxmlformats.org/officeDocument/2006/relationships/slide" Target="slides/slide11.xml"/>
<Relationship Id="rId14" Type="http://schemas.openxmlformats.org/officeDocument/2006/relationships/slide" Target="slides/slide12.xml"/>
<Relationship Id="rId15" Type="http://schemas.openxmlformats.org/officeDocument/2006/relationships/slide" Target="slides/slide13.xml"/>
<Relationship Id="rId16" Type="http://schemas.openxmlformats.org/officeDocument/2006/relationships/slide" Target="slides/slide14.xml"/>
<Relationship Id="rId17" Type="http://schemas.openxmlformats.org/officeDocument/2006/relationships/slide" Target="slides/slide15.xml"/>
<Relationship Id="rId18" Type="http://schemas.openxmlformats.org/officeDocument/2006/relationships/slide" Target="slides/slide16.xml"/>
<Relationship Id="rId19" Type="http://schemas.openxmlformats.org/officeDocument/2006/relationships/slide" Target="slides/slide17.xml"/>
<Relationship Id="rId20" Type="http://schemas.openxmlformats.org/officeDocument/2006/relationships/slide" Target="slides/slide18.xml"/>
<Relationship Id="rId21" Type="http://schemas.openxmlformats.org/officeDocument/2006/relationships/slide" Target="slides/slide19.xml"/>
<Relationship Id="rId22" Type="http://schemas.openxmlformats.org/officeDocument/2006/relationships/slide" Target="slides/slide20.xml"/>
<Relationship Id="rId23" Type="http://schemas.openxmlformats.org/officeDocument/2006/relationships/slide" Target="slides/slide21.xml"/>
<Relationship Id="rId24" Type="http://schemas.openxmlformats.org/officeDocument/2006/relationships/slide" Target="slides/slide22.xml"/>
<Relationship Id="rId25" Type="http://schemas.openxmlformats.org/officeDocument/2006/relationships/slide" Target="slides/slide23.xml"/>
<Relationship Id="rId26" Type="http://schemas.openxmlformats.org/officeDocument/2006/relationships/slide" Target="slides/slide24.xml"/>
<Relationship Id="rId27" Type="http://schemas.openxmlformats.org/officeDocument/2006/relationships/slide" Target="slides/slide25.xml"/>
<Relationship Id="rId28" Type="http://schemas.openxmlformats.org/officeDocument/2006/relationships/slide" Target="slides/slide26.xml"/>
<Relationship Id="rId29" Type="http://schemas.openxmlformats.org/officeDocument/2006/relationships/slide" Target="slides/slide27.xml"/>
<Relationship Id="rId30" Type="http://schemas.openxmlformats.org/officeDocument/2006/relationships/theme" Target="theme/theme1.xml"/>
</Relationships>
</file>

<file path=ppt/notesMasters/_rels/notes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0" y="0"/>
            <a:ext cx="6858000" cy="12192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that induction is a proof method, not a shortcut for guessing formulas. Students will use the proof language from Session 5, especially the idea of starting from an explicit assumption.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backward: Session 5 gave several ways to prove one claim. Induction is the method for a sequence of claims indexed by integers. Connect forward: counting formulas in Session 7 are often proved by induction.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examples of statements that depend on a whole number $n$: a sum of the first $n$ numbers, or a divisibility claim for every $n$. Do not introduce the formal induction principle until students feel the problem it solves.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phrase "all visible" is deliberate. Students often write correct algebra but hide the logical structure that makes it an induction proof.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what might happen at $n=100$. The point is not that the formula is doubtful; it is that four checks cannot cover an infinite set of inputs.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analogy only to make the chain visible. Emphasise that the second condition must work for every allowed integer $k$, not for one chosen example.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symbols slowly. The base number $n_0$ is not always $1$; later slides use $2$ and $12$. This is a proof principle, not a formula to substitute into.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calculate both sides of $P(4)$. Stress that $P(n)$ is a label for a complete sentence, not a number or an algebraic expression.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$n_0=1$ on Slide 7. This slide addresses a frequent error: checking a convenient value instead of the first value named in the claim.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distinction explicit: "Assume $P(k)$ for an arbitrary $k$" is allowed inside the inductive step. "Assume the formula for all $n$" would assume the conclusion before proving it.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Circle the line marked "by $P(k)$." It is the line that makes this an induction proof. Without it, students have not used their temporary assumption.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conclusion is where the infinite claim enters. The algebra in the step proves only a link; the induction principle turns the base and all links into a statement about every $n\geq1$.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 should leave space between the hypothesis and the calculation. The next odd number after $2k-1$ is $2k+1$; this is the key detail to watch for.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this after the share. Ask why $2k+1$ appears: replacing $n$ by $k+1$ in $2n-1$ gives $2(k+1)-1=2k+1$.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the scheduled break before this section. On return, remind students that the base, hypothesis, and next case remain the same; only the algebra changes.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that $0$ is a multiple of every integer: $0=3\cdot0$. The target form in the inductive step will be $3\times(\text{an integer})$.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may need to expand $(k+1)^3-(k+1)$ on the board first. State that the first line is an algebra identity; the second line uses the inductive hypothesis.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groups to test the false equality with $k=1$. The activity teaches that an induction proof can look structurally correct but still fail through one algebra mistake.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a sharp distinction: a base case shows only one case. Both the statement and every algebraic line in the step must be correct.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"Strong" does not mean the conclusion is stronger. It gives more information in the inductive hypothesis. The next two slides show why a factorisation proof needs it.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examples: $13$ is prime, while $12=3\cdot4$ is composite. "A product of prime numbers" may have one factor, so the prime number $2$ is itself a product consisting of one prime.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why $a,b\leq k$: since both are greater than $1$ and their product is $k+1$, neither can equal $k+1$. This is exactly where the full hypothesis, not merely $P(k)$, is used.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non-negative means $0,1,2,\ldots$. Students should write each base case as a sum of fours and fives before moving to the general step.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step looks back four places, so four base cases are needed. This is a good place to ask students to identify the exact earlier statement used: $P(k-3)$.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third and fourth errors are different: the first assumes too much, while the second assumes the right thing but does not use it. Invite students to find these errors in old work.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answers: 1. $P(1):1=1^2$; assume the identity for $k\geq1$. 2. The first inequality uses the hypothesis; the second follows because $k\geq0$. 3. $P(k-3)$. A base case proves one case, not the link to the next case.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asking students to say the difference between ordinary and strong induction in one sentence. Reinforce that the conclusion in both methods is the same; only the information available in the step changes.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png"/>
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.png"/>
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png"/>
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6.png"/>
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7.png"/>
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8.png"/>
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9.png"/>
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0.png"/>
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1.png"/>
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2.png"/>
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3.png"/>
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4.png"/>
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5.png"/>
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6.png"/>
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7.png"/>
<Relationship Id="rId3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8.png"/>
<Relationship Id="rId3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9.png"/>
<Relationship Id="rId3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0.png"/>
<Relationship Id="rId3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1.png"/>
<Relationship Id="rId3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2.png"/>
<Relationship Id="rId3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3.png"/>
<Relationship Id="rId3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4.png"/>
<Relationship Id="rId3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5.png"/>
<Relationship Id="rId3" Type="http://schemas.openxmlformats.org/officeDocument/2006/relationships/notesSlide" Target="../notesSlides/notesSlide25.xml"/>
</Relationships>
</file>

<file path=ppt/slides/_rels/slide2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6.png"/>
<Relationship Id="rId3" Type="http://schemas.openxmlformats.org/officeDocument/2006/relationships/notesSlide" Target="../notesSlides/notesSlide26.xml"/>
</Relationships>
</file>

<file path=ppt/slides/_rels/slide2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7.png"/>
<Relationship Id="rId3" Type="http://schemas.openxmlformats.org/officeDocument/2006/relationships/notesSlide" Target="../notesSlides/notesSlide2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S deck">
  <a:themeElements>
    <a:clrScheme name="HS">
      <a:dk1>
        <a:sysClr val="windowText" lastClr="000000"/>
      </a:dk1>
      <a:lt1>
        <a:sysClr val="window" lastClr="FFFFFF"/>
      </a:lt1>
      <a:dk2>
        <a:srgbClr val="1B1B1B"/>
      </a:dk2>
      <a:lt2>
        <a:srgbClr val="F5F5F5"/>
      </a:lt2>
      <a:accent1>
        <a:srgbClr val="4B2696"/>
      </a:accent1>
      <a:accent2>
        <a:srgbClr val="FF3BC7"/>
      </a:accent2>
      <a:accent3>
        <a:srgbClr val="7A47EA"/>
      </a:accent3>
      <a:accent4>
        <a:srgbClr val="00A3C4"/>
      </a:accent4>
      <a:accent5>
        <a:srgbClr val="0F9D58"/>
      </a:accent5>
      <a:accent6>
        <a:srgbClr val="D93025"/>
      </a:accent6>
      <a:hlink>
        <a:srgbClr val="4B2696"/>
      </a:hlink>
      <a:folHlink>
        <a:srgbClr val="7A47EA"/>
      </a:folHlink>
    </a:clrScheme>
    <a:fontScheme name="HS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H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S notes">
  <a:themeElements>
    <a:clrScheme name="HS">
      <a:dk1>
        <a:sysClr val="windowText" lastClr="000000"/>
      </a:dk1>
      <a:lt1>
        <a:sysClr val="window" lastClr="FFFFFF"/>
      </a:lt1>
      <a:dk2>
        <a:srgbClr val="1B1B1B"/>
      </a:dk2>
      <a:lt2>
        <a:srgbClr val="F5F5F5"/>
      </a:lt2>
      <a:accent1>
        <a:srgbClr val="4B2696"/>
      </a:accent1>
      <a:accent2>
        <a:srgbClr val="FF3BC7"/>
      </a:accent2>
      <a:accent3>
        <a:srgbClr val="7A47EA"/>
      </a:accent3>
      <a:accent4>
        <a:srgbClr val="00A3C4"/>
      </a:accent4>
      <a:accent5>
        <a:srgbClr val="0F9D58"/>
      </a:accent5>
      <a:accent6>
        <a:srgbClr val="D93025"/>
      </a:accent6>
      <a:hlink>
        <a:srgbClr val="4B2696"/>
      </a:hlink>
      <a:folHlink>
        <a:srgbClr val="7A47EA"/>
      </a:folHlink>
    </a:clrScheme>
    <a:fontScheme name="HS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H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