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Lst>
  <p:sldSz cx="12192000" cy="6858000"/>
  <p:notesSz cx="6858000" cy="12192000"/>
</p:presentation>
</file>

<file path=ppt/_rels/presentation.xml.rels><?xml version="1.0" encoding="UTF-8" standalone="yes"?>
<Relationships xmlns="http://schemas.openxmlformats.org/package/2006/relationships">
<Relationship Id="rId1" Type="http://schemas.openxmlformats.org/officeDocument/2006/relationships/slideMaster" Target="slideMasters/slideMaster1.xml"/>
<Relationship Id="rId2" Type="http://schemas.openxmlformats.org/officeDocument/2006/relationships/notesMaster" Target="notesMasters/notesMaster1.xml"/>
<Relationship Id="rId3" Type="http://schemas.openxmlformats.org/officeDocument/2006/relationships/slide" Target="slides/slide1.xml"/>
<Relationship Id="rId4" Type="http://schemas.openxmlformats.org/officeDocument/2006/relationships/slide" Target="slides/slide2.xml"/>
<Relationship Id="rId5" Type="http://schemas.openxmlformats.org/officeDocument/2006/relationships/slide" Target="slides/slide3.xml"/>
<Relationship Id="rId6" Type="http://schemas.openxmlformats.org/officeDocument/2006/relationships/slide" Target="slides/slide4.xml"/>
<Relationship Id="rId7" Type="http://schemas.openxmlformats.org/officeDocument/2006/relationships/slide" Target="slides/slide5.xml"/>
<Relationship Id="rId8" Type="http://schemas.openxmlformats.org/officeDocument/2006/relationships/slide" Target="slides/slide6.xml"/>
<Relationship Id="rId9" Type="http://schemas.openxmlformats.org/officeDocument/2006/relationships/slide" Target="slides/slide7.xml"/>
<Relationship Id="rId10" Type="http://schemas.openxmlformats.org/officeDocument/2006/relationships/slide" Target="slides/slide8.xml"/>
<Relationship Id="rId11" Type="http://schemas.openxmlformats.org/officeDocument/2006/relationships/slide" Target="slides/slide9.xml"/>
<Relationship Id="rId12" Type="http://schemas.openxmlformats.org/officeDocument/2006/relationships/slide" Target="slides/slide10.xml"/>
<Relationship Id="rId13" Type="http://schemas.openxmlformats.org/officeDocument/2006/relationships/slide" Target="slides/slide11.xml"/>
<Relationship Id="rId14" Type="http://schemas.openxmlformats.org/officeDocument/2006/relationships/slide" Target="slides/slide12.xml"/>
<Relationship Id="rId15" Type="http://schemas.openxmlformats.org/officeDocument/2006/relationships/slide" Target="slides/slide13.xml"/>
<Relationship Id="rId16" Type="http://schemas.openxmlformats.org/officeDocument/2006/relationships/slide" Target="slides/slide14.xml"/>
<Relationship Id="rId17" Type="http://schemas.openxmlformats.org/officeDocument/2006/relationships/slide" Target="slides/slide15.xml"/>
<Relationship Id="rId18" Type="http://schemas.openxmlformats.org/officeDocument/2006/relationships/slide" Target="slides/slide16.xml"/>
<Relationship Id="rId19" Type="http://schemas.openxmlformats.org/officeDocument/2006/relationships/slide" Target="slides/slide17.xml"/>
<Relationship Id="rId20" Type="http://schemas.openxmlformats.org/officeDocument/2006/relationships/slide" Target="slides/slide18.xml"/>
<Relationship Id="rId21" Type="http://schemas.openxmlformats.org/officeDocument/2006/relationships/slide" Target="slides/slide19.xml"/>
<Relationship Id="rId22" Type="http://schemas.openxmlformats.org/officeDocument/2006/relationships/slide" Target="slides/slide20.xml"/>
<Relationship Id="rId23" Type="http://schemas.openxmlformats.org/officeDocument/2006/relationships/slide" Target="slides/slide21.xml"/>
<Relationship Id="rId24" Type="http://schemas.openxmlformats.org/officeDocument/2006/relationships/slide" Target="slides/slide22.xml"/>
<Relationship Id="rId25" Type="http://schemas.openxmlformats.org/officeDocument/2006/relationships/slide" Target="slides/slide23.xml"/>
<Relationship Id="rId26" Type="http://schemas.openxmlformats.org/officeDocument/2006/relationships/slide" Target="slides/slide24.xml"/>
<Relationship Id="rId27" Type="http://schemas.openxmlformats.org/officeDocument/2006/relationships/slide" Target="slides/slide25.xml"/>
<Relationship Id="rId28" Type="http://schemas.openxmlformats.org/officeDocument/2006/relationships/slide" Target="slides/slide26.xml"/>
<Relationship Id="rId29" Type="http://schemas.openxmlformats.org/officeDocument/2006/relationships/slide" Target="slides/slide27.xml"/>
<Relationship Id="rId30" Type="http://schemas.openxmlformats.org/officeDocument/2006/relationships/slide" Target="slides/slide28.xml"/>
<Relationship Id="rId31" Type="http://schemas.openxmlformats.org/officeDocument/2006/relationships/theme" Target="theme/theme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p:cNvSpPr>
            <a:spLocks noGrp="1"/>
          </p:cNvSpPr>
          <p:nvPr>
            <p:ph type="body" idx="1"/>
          </p:nvPr>
        </p:nvSpPr>
        <p:spPr>
          <a:xfrm>
            <a:off x="0" y="0"/>
            <a:ext cx="6858000" cy="12192000"/>
          </a:xfrm>
          <a:prstGeom prst="rect">
            <a:avLst/>
          </a:prstGeom>
        </p:spPr>
        <p:txBody>
          <a:bodyPr/>
          <a:lstStyle/>
          <a:p>
            <a:endParaRPr lang="en-US"/>
          </a:p>
        </p:txBody>
      </p:sp>
    </p:spTree>
  </p:cSld>
  <p:clrMap bg1="lt1" tx1="dk1" bg2="lt2"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Connect to Session 3: students now know what a function is. Today gives them useful families of functions to recognise and compare. State that every graph shown today has a declared domain; when none is written, use the natural real domain of the formula.</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
          <p:cNvSpPr>
            <a:spLocks noGrp="1"/>
          </p:cNvSpPr>
          <p:nvPr>
            <p:ph type="body" idx="1"/>
          </p:nvPr>
        </p:nvSpPr>
        <p:spPr/>
        <p:txBody>
          <a:bodyPr/>
          <a:lstStyle/>
          <a:p>
            <a:r>
              <a:rPr lang="en-US" dirty="0"/>
              <a:t>Point out the deliberate repeat: polynomials appear today as a function family and return in Session 12 for deeper algebra. The course moves from the language of functions to proof techniques next session.</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3"/>
          <p:cNvSpPr>
            <a:spLocks noGrp="1"/>
          </p:cNvSpPr>
          <p:nvPr>
            <p:ph type="body" idx="1"/>
          </p:nvPr>
        </p:nvSpPr>
        <p:spPr/>
        <p:txBody>
          <a:bodyPr/>
          <a:lstStyle/>
          <a:p>
            <a:r>
              <a:rPr lang="en-US" dirty="0"/>
              <a:t>This slide replaces the warm-up and the objectives, so it has to do both jobs in ten minutes. Do not read the tables out. Put them up, give the room ninety seconds to find the one line they cannot explain, and take three of those. Two lines carry today: codomain is declared, image is computed — every family today gets asked for its domain and range — and restrict until bijective , because that is the only reason $\log$ and $\arcsin$ exist at all. Then run the warm-up. Ask for predictions, not answers from memory. At $x=1$, $x^2=1$ and $2^x=2$; at $x=3$, $9&gt;8$; at $x=10$, $1024&gt;100$. That makes the need for the word "eventually" visible. Do not yet claim a formal growth theorem; it appears later. Today's assessed skill is explaining why a rule may be used, not only using it: degree and end behaviour, exponent and log laws with their conditions, base change, growth comparison, and reading amplitude, period and shift off a transformed graph.</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idx="1"/>
          </p:nvPr>
        </p:nvSpPr>
        <p:spPr/>
        <p:txBody>
          <a:bodyPr/>
          <a:lstStyle/>
          <a:p>
            <a:r>
              <a:rPr lang="en-US" dirty="0"/>
              <a:t>Keep $b&gt;0$ on this first-pass transformation rule so that the horizontal reflection case does not distract. Demonstrate with $g(x)=-2f(3(x-1))+4$: right $1$, horizontal compression by factor $1/3$, vertical stretch by $2$, vertical reflection, then up $4$. Emphasise that $f(x-3)$ shifts right, not left: to get the same old output $f(0)$, the new input must be $x=3$.</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5"/>
          <p:cNvSpPr>
            <a:spLocks noGrp="1"/>
          </p:cNvSpPr>
          <p:nvPr>
            <p:ph type="body" idx="1"/>
          </p:nvPr>
        </p:nvSpPr>
        <p:spPr/>
        <p:txBody>
          <a:bodyPr/>
          <a:lstStyle/>
          <a:p>
            <a:r>
              <a:rPr lang="en-US" dirty="0"/>
              <a:t>Let students name familiar examples. A constant nonzero polynomial has degree $0$; the zero polynomial is special and does not have a degree under the usual convention, so leave it out of the classification discussion.</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6"/>
          <p:cNvSpPr>
            <a:spLocks noGrp="1"/>
          </p:cNvSpPr>
          <p:nvPr>
            <p:ph type="body" idx="1"/>
          </p:nvPr>
        </p:nvSpPr>
        <p:spPr/>
        <p:txBody>
          <a:bodyPr/>
          <a:lstStyle/>
          <a:p>
            <a:r>
              <a:rPr lang="en-US" dirty="0"/>
              <a:t>Ask why $5x^2-2x^5$ has degree $5$, not $2$: position in the written expression is irrelevant. Mention that terms with coefficient zero are absent. The zero polynomial is excluded because there is no "largest exponent with nonzero coefficient."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7"/>
          <p:cNvSpPr>
            <a:spLocks noGrp="1"/>
          </p:cNvSpPr>
          <p:nvPr>
            <p:ph type="body" idx="1"/>
          </p:nvPr>
        </p:nvSpPr>
        <p:spPr/>
        <p:txBody>
          <a:bodyPr/>
          <a:lstStyle/>
          <a:p>
            <a:r>
              <a:rPr lang="en-US" dirty="0"/>
              <a:t>"Up" means $p(x)\to+\infty$ and "down" means $p(x)\to-\infty$. Explain "leading term wins" informally: dividing by $x^n$ gives $p(x)/x^n=a_n+a_{n-1}/x+\cdots+a_0/x^n$, and all terms after $a_n$ approach $0$ as $|x|\to\infty$. This is a justification, not a slogan.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8"/>
          <p:cNvSpPr>
            <a:spLocks noGrp="1"/>
          </p:cNvSpPr>
          <p:nvPr>
            <p:ph type="body" idx="1"/>
          </p:nvPr>
        </p:nvSpPr>
        <p:spPr/>
        <p:txBody>
          <a:bodyPr/>
          <a:lstStyle/>
          <a:p>
            <a:r>
              <a:rPr lang="en-US" dirty="0"/>
              <a:t>Substitute each root: $p(-2)=0$, $p(0)=0$, and $p(2)=0$. The "at most" statement is important: $x^2+1$ has no real roots, while $(x-1)^2$ has one distinct real root but degree $2$. Briefly justify the theorem: each distinct root supplies a distinct linear factor, and a degree-$n$ polynomial cannot contain more than $n$ such factors. A full complex-root statement comes in Session 13.</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9"/>
          <p:cNvSpPr>
            <a:spLocks noGrp="1"/>
          </p:cNvSpPr>
          <p:nvPr>
            <p:ph type="body" idx="1"/>
          </p:nvPr>
        </p:nvSpPr>
        <p:spPr/>
        <p:txBody>
          <a:bodyPr/>
          <a:lstStyle/>
          <a:p>
            <a:r>
              <a:rPr lang="en-US" dirty="0"/>
              <a:t>Expected answer: degree $2$, leading coefficient $-1$; shift right $2$, up $3$, then reflect vertically; vertex $(2,3)$; both ends down. For roots, $-(x-2)^2+3=0$ is equivalent to $(x-2)^2=3$, then $x-2=\pm\sqrt3$, hence $x=2\pm\sqrt3$. The common mistake in the share prompt drops the horizontal shift.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0"/>
          <p:cNvSpPr>
            <a:spLocks noGrp="1"/>
          </p:cNvSpPr>
          <p:nvPr>
            <p:ph type="body" idx="1"/>
          </p:nvPr>
        </p:nvSpPr>
        <p:spPr/>
        <p:txBody>
          <a:bodyPr/>
          <a:lstStyle/>
          <a:p>
            <a:r>
              <a:rPr lang="en-US" dirty="0"/>
              <a:t>Do not put this up until every group has committed to an answer. Walk the four method steps in order and ask which step each group actually skipped — it is almost always step 4. Write $x-2=\pm\sqrt3$ on the board as a single line with two solutions, and say aloud that the $\pm$ is where a solution gets silently lost for the rest of their lives.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1"/>
          <p:cNvSpPr>
            <a:spLocks noGrp="1"/>
          </p:cNvSpPr>
          <p:nvPr>
            <p:ph type="body" idx="1"/>
          </p:nvPr>
        </p:nvSpPr>
        <p:spPr/>
        <p:txBody>
          <a:bodyPr/>
          <a:lstStyle/>
          <a:p>
            <a:r>
              <a:rPr lang="en-US" dirty="0"/>
              <a:t>This is the break divider. Read the exponent question in words before giving $x=3$. A logarithm is not an arbitrary new operation; it records the exponent in an exponential equation.</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2"/>
          <p:cNvSpPr>
            <a:spLocks noGrp="1"/>
          </p:cNvSpPr>
          <p:nvPr>
            <p:ph type="body" idx="1"/>
          </p:nvPr>
        </p:nvSpPr>
        <p:spPr/>
        <p:txBody>
          <a:bodyPr/>
          <a:lstStyle/>
          <a:p>
            <a:r>
              <a:rPr lang="en-US" dirty="0"/>
              <a:t>Contrast $2^x$ with $x^2$: in an exponential, $x$ is in the exponent. Explain the restrictions: a negative real base does not define a real value for every real exponent, and base $1$ gives a constant function, not growth or decay. "Never reaches $0$" follows from $b^x&gt;0$ for all real $x$ when $b&gt;0$.</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3"/>
          <p:cNvSpPr>
            <a:spLocks noGrp="1"/>
          </p:cNvSpPr>
          <p:nvPr>
            <p:ph type="body" idx="1"/>
          </p:nvPr>
        </p:nvSpPr>
        <p:spPr/>
        <p:txBody>
          <a:bodyPr/>
          <a:lstStyle/>
          <a:p>
            <a:r>
              <a:rPr lang="en-US" dirty="0"/>
              <a:t>Show the multiplication: $100\cdot1.2^3=100\cdot1.728=172.8$. A $20\%$ increase is multiplication by $1+0.20$, while a $15\%$ decrease is multiplication by $1-0.15$. Do not call any steep-looking curve "exponential"; the constant ratio test is the definition in a model.</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4"/>
          <p:cNvSpPr>
            <a:spLocks noGrp="1"/>
          </p:cNvSpPr>
          <p:nvPr>
            <p:ph type="body" idx="1"/>
          </p:nvPr>
        </p:nvSpPr>
        <p:spPr/>
        <p:txBody>
          <a:bodyPr/>
          <a:lstStyle/>
          <a:p>
            <a:r>
              <a:rPr lang="en-US" dirty="0"/>
              <a:t>State the missing hypothesis before the rule: the base must be positive and different from $1$. Here $27=3^3$, so the exponents may be equated. Confirm by substitution: $3^{2(2)-1}=3^3=27$. For bases that do not conveniently match, logarithms are the next tool.</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5"/>
          <p:cNvSpPr>
            <a:spLocks noGrp="1"/>
          </p:cNvSpPr>
          <p:nvPr>
            <p:ph type="body" idx="1"/>
          </p:nvPr>
        </p:nvSpPr>
        <p:spPr/>
        <p:txBody>
          <a:bodyPr/>
          <a:lstStyle/>
          <a:p>
            <a:r>
              <a:rPr lang="en-US" dirty="0"/>
              <a:t>Read each example as an exponential equation: $2^3=8$, $10^{-2}=0.01$, and $e^5=e^5$. The domain condition $x&gt;0$ must be said every time a logarithm is introduced. "ln" means logarithm base $e$, where $e\approx2.71828$.</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6"/>
          <p:cNvSpPr>
            <a:spLocks noGrp="1"/>
          </p:cNvSpPr>
          <p:nvPr>
            <p:ph type="body" idx="1"/>
          </p:nvPr>
        </p:nvSpPr>
        <p:spPr/>
        <p:txBody>
          <a:bodyPr/>
          <a:lstStyle/>
          <a:p>
            <a:r>
              <a:rPr lang="en-US" dirty="0"/>
              <a:t>The condition $u,v&gt;0$ makes every displayed logarithm real. The product law follows directly from exponents: if $u=b^r$ and $v=b^s$, then $uv=b^{r+s}$.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7"/>
          <p:cNvSpPr>
            <a:spLocks noGrp="1"/>
          </p:cNvSpPr>
          <p:nvPr>
            <p:ph type="body" idx="1"/>
          </p:nvPr>
        </p:nvSpPr>
        <p:spPr/>
        <p:txBody>
          <a:bodyPr/>
          <a:lstStyle/>
          <a:p>
            <a:r>
              <a:rPr lang="en-US" dirty="0"/>
              <a:t>Domain: $x-1&gt;0$ and $x+1&gt;0$, so $x&gt;1$. Then $\log_2((x-1)(x+1))=3$, so $x^2-1=8$, then $x^2=9$ and $x=\pm3$. The original domain retains only $x=3$. Check: $\log_2 2+\log_2 4=1+2=3$. This activity makes the log-domain condition operational rather than decorative.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8"/>
          <p:cNvSpPr>
            <a:spLocks noGrp="1"/>
          </p:cNvSpPr>
          <p:nvPr>
            <p:ph type="body" idx="1"/>
          </p:nvPr>
        </p:nvSpPr>
        <p:spPr/>
        <p:txBody>
          <a:bodyPr/>
          <a:lstStyle/>
          <a:p>
            <a:r>
              <a:rPr lang="en-US" dirty="0"/>
              <a:t>The whole activity exists to make step 1 a habit rather than a decoration. Ask who wrote the domain down before solving; usually very few. Point out that step 3 is legal only because step 1 guaranteed the inputs are positive, and that step 4 is not optional politeness — the algebra in step 3 genuinely produces a value that is not a solution.</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9"/>
          <p:cNvSpPr>
            <a:spLocks noGrp="1"/>
          </p:cNvSpPr>
          <p:nvPr>
            <p:ph type="body" idx="1"/>
          </p:nvPr>
        </p:nvSpPr>
        <p:spPr/>
        <p:txBody>
          <a:bodyPr/>
          <a:lstStyle/>
          <a:p>
            <a:r>
              <a:rPr lang="en-US" dirty="0"/>
              <a:t>For base change, choose $a=e$ in practice: $\log_bx=\ln x/\ln b$. The growth statement assumes any fixed logarithm base greater than $1$; bases between $0$ and $1$ give negative logarithms for $n&gt;1$ and are not the intended growth convention. Give a finite comparison: $2^3=8&lt;3^2=9$, but $2^{10}=1024&gt;10^2=100$. We use the formal notation $\log n=o(n^k)$ and $n^k=o(c^n)$ only as optional vocabulary, not as required knowledge.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0"/>
          <p:cNvSpPr>
            <a:spLocks noGrp="1"/>
          </p:cNvSpPr>
          <p:nvPr>
            <p:ph type="body" idx="1"/>
          </p:nvPr>
        </p:nvSpPr>
        <p:spPr/>
        <p:txBody>
          <a:bodyPr/>
          <a:lstStyle/>
          <a:p>
            <a:r>
              <a:rPr lang="en-US" dirty="0"/>
              <a:t>Ranking: $\log_2n&lt;n&lt;n\log_2n&lt;n^2&lt;2^n$ eventually. For $n&gt;2$, $\log_2n&gt;1$, so $n\log_2n&gt;n$. The step $n\log n&lt;n^2$ eventually follows from $\log n&lt;n$ eventually. The exponential term is the dangerous one for large inputs, but remind students that implementation constants and input size still matter in real computing.</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1"/>
          <p:cNvSpPr>
            <a:spLocks noGrp="1"/>
          </p:cNvSpPr>
          <p:nvPr>
            <p:ph type="body" idx="1"/>
          </p:nvPr>
        </p:nvSpPr>
        <p:spPr/>
        <p:txBody>
          <a:bodyPr/>
          <a:lstStyle/>
          <a:p>
            <a:r>
              <a:rPr lang="en-US" dirty="0"/>
              <a:t>Step 2 is the transferable skill: dividing $n\log_2 n$ by $n$ leaves $\log_2 n$, and asking whether that exceeds $1$ settles the pair immediately. Take question 3 seriously in discussion — $2^n$ is the dangerous term, but remind them that implementation constants and input size still matter in real computing, so "asymptotically worse" is not the same as "slower on your laptop today".</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2"/>
          <p:cNvSpPr>
            <a:spLocks noGrp="1"/>
          </p:cNvSpPr>
          <p:nvPr>
            <p:ph type="body" idx="1"/>
          </p:nvPr>
        </p:nvSpPr>
        <p:spPr/>
        <p:txBody>
          <a:bodyPr/>
          <a:lstStyle/>
          <a:p>
            <a:r>
              <a:rPr lang="en-US" dirty="0"/>
              <a:t>Session 3 introduced sine and cosine on the unit circle. Here the focus is graph structure and modelling. "Period $2\pi$" means $2\pi$ is the smallest positive period for sine and cosine; the displayed equations only establish that it is a period, so state the smallest-period claim verbally or prove it from one complete unit-circle turn.</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3"/>
          <p:cNvSpPr>
            <a:spLocks noGrp="1"/>
          </p:cNvSpPr>
          <p:nvPr>
            <p:ph type="body" idx="1"/>
          </p:nvPr>
        </p:nvSpPr>
        <p:spPr/>
        <p:txBody>
          <a:bodyPr/>
          <a:lstStyle/>
          <a:p>
            <a:r>
              <a:rPr lang="en-US" dirty="0"/>
              <a:t>Explain that amplitude is a nonnegative distance from the midline to a peak, so it is $|A|$, not $A$. The period calculation comes from demanding that the input to sine increase by $2\pi$: $B\Delta x=2\pi$, hence $\Delta x=2\pi/B$. The formula is also valid for cosine, with the same parameter meanings but a different starting shape.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4"/>
          <p:cNvSpPr>
            <a:spLocks noGrp="1"/>
          </p:cNvSpPr>
          <p:nvPr>
            <p:ph type="body" idx="1"/>
          </p:nvPr>
        </p:nvSpPr>
        <p:spPr/>
        <p:txBody>
          <a:bodyPr/>
          <a:lstStyle/>
          <a:p>
            <a:r>
              <a:rPr lang="en-US" dirty="0"/>
              <a:t>Period: $2\pi/(\pi/12)=24$. For a maximum, sine must be $1$: $(\pi/12)(t-3)=\pi/2+2\pi k$, so $t=9+24k$; in one day $t=9$. For a minimum, use $3\pi/2+2\pi k$, giving $t=21+24k$. Make clear that the model's numerical values are illustrative, not a claim about every city or every day.</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5"/>
          <p:cNvSpPr>
            <a:spLocks noGrp="1"/>
          </p:cNvSpPr>
          <p:nvPr>
            <p:ph type="body" idx="1"/>
          </p:nvPr>
        </p:nvSpPr>
        <p:spPr/>
        <p:txBody>
          <a:bodyPr/>
          <a:lstStyle/>
          <a:p>
            <a:r>
              <a:rPr lang="en-US" dirty="0"/>
              <a:t>Amplitude $1.5$, midline $y=4$, period $2\pi/(\pi/6)=12$, range $[2.5,5.5]$. Cosine reaches a maximum when its input is $0+2\pi k$, so $t=2+12k$; the first one after $t=0$ is $t=2$. One cycle can run from $t=2$ to $t=14$: maximum $(2,5.5)$, midline crossings $(5,4)$ and $(11,4)$, minimum $(8,2.5)$, and next maximum $(14,5.5)$.</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6"/>
          <p:cNvSpPr>
            <a:spLocks noGrp="1"/>
          </p:cNvSpPr>
          <p:nvPr>
            <p:ph type="body" idx="1"/>
          </p:nvPr>
        </p:nvSpPr>
        <p:spPr/>
        <p:txBody>
          <a:bodyPr/>
          <a:lstStyle/>
          <a:p>
            <a:r>
              <a:rPr lang="en-US" dirty="0"/>
              <a:t>Amplitude $1.5$, midline $y=4$, period $2\pi/(\pi/6)=12$, range $[2.5,5.5]$. Cosine reaches a maximum when its input is $0+2\pi k$, so $t=2+12k$; the first one after $t=0$ is $t=2$. One cycle can run from $t=2$ to $t=14$: maximum $(2,5.5)$, midline crossings $(5,4)$ and $(11,4)$, minimum $(8,2.5)$, and next maximum $(14,5.5)$. Show the sketch only after pairs have drawn their own, and make them check the five labelled points against what they drew.</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7"/>
          <p:cNvSpPr>
            <a:spLocks noGrp="1"/>
          </p:cNvSpPr>
          <p:nvPr>
            <p:ph type="body" idx="1"/>
          </p:nvPr>
        </p:nvSpPr>
        <p:spPr/>
        <p:txBody>
          <a:bodyPr/>
          <a:lstStyle/>
          <a:p>
            <a:r>
              <a:rPr lang="en-US" dirty="0"/>
              <a:t>1. $x^3-4x=x(x-2)(x+2)$, so roots $-2,0,2$; odd degree with positive leading coefficient means down on the left and up on the right. 2. $125=5^3$, so $2x=3$ and $x=3/2$. 3. Amplitude $3$; period $2\pi/(\pi/4)=8$; $t+2=t-(-2)$ means shift left $2$; range $[-4,2]$. Collect or photograph this as a quick check of where to begin next class.</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8"/>
          <p:cNvSpPr>
            <a:spLocks noGrp="1"/>
          </p:cNvSpPr>
          <p:nvPr>
            <p:ph type="body" idx="1"/>
          </p:nvPr>
        </p:nvSpPr>
        <p:spPr/>
        <p:txBody>
          <a:bodyPr/>
          <a:lstStyle/>
          <a:p>
            <a:r>
              <a:rPr lang="en-US" dirty="0"/>
              <a:t>Finish by asking students to name one condition they must not omit: $b&gt;0$, $b\ne1$, positive log input, or "eventually" in a growth statement. Preview that the next session asks them to justify claims like the ones made today, rather than merely use them.</a:t>
            </a:r>
          </a:p>
        </p:txBody>
      </p:sp>
    </p:spTree>
  </p:cSld>
  <p:clrMapOvr>
    <a:masterClrMapping/>
  </p:clrMapOvr>
</p:notes>
</file>

<file path=ppt/slideLayouts/_rels/slideLayout1.xml.rels><?xml version="1.0" encoding="UTF-8" standalone="yes"?>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theme" Target="../theme/theme1.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1.png"/>
<Relationship Id="rId3"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2.png"/>
<Relationship Id="rId3"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3.png"/>
<Relationship Id="rId3"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4.png"/>
<Relationship Id="rId3"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5.png"/>
<Relationship Id="rId3"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6.png"/>
<Relationship Id="rId3"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7.png"/>
<Relationship Id="rId3"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8.png"/>
<Relationship Id="rId3"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9.png"/>
<Relationship Id="rId3"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10.png"/>
<Relationship Id="rId3"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11.png"/>
<Relationship Id="rId3"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12.png"/>
<Relationship Id="rId3"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13.png"/>
<Relationship Id="rId3"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14.png"/>
<Relationship Id="rId3"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15.png"/>
<Relationship Id="rId3" Type="http://schemas.openxmlformats.org/officeDocument/2006/relationships/notesSlide" Target="../notesSlides/notesSlide15.xml"/>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16.png"/>
<Relationship Id="rId3" Type="http://schemas.openxmlformats.org/officeDocument/2006/relationships/notesSlide" Target="../notesSlides/notesSlide16.xml"/>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17.png"/>
<Relationship Id="rId3" Type="http://schemas.openxmlformats.org/officeDocument/2006/relationships/notesSlide" Target="../notesSlides/notesSlide17.xml"/>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18.png"/>
<Relationship Id="rId3" Type="http://schemas.openxmlformats.org/officeDocument/2006/relationships/notesSlide" Target="../notesSlides/notesSlide18.xml"/>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19.png"/>
<Relationship Id="rId3" Type="http://schemas.openxmlformats.org/officeDocument/2006/relationships/notesSlide" Target="../notesSlides/notesSlide19.xml"/>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20.png"/>
<Relationship Id="rId3" Type="http://schemas.openxmlformats.org/officeDocument/2006/relationships/notesSlide" Target="../notesSlides/notesSlide20.xml"/>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21.png"/>
<Relationship Id="rId3" Type="http://schemas.openxmlformats.org/officeDocument/2006/relationships/notesSlide" Target="../notesSlides/notesSlide21.xml"/>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22.png"/>
<Relationship Id="rId3" Type="http://schemas.openxmlformats.org/officeDocument/2006/relationships/notesSlide" Target="../notesSlides/notesSlide22.xml"/>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23.png"/>
<Relationship Id="rId3" Type="http://schemas.openxmlformats.org/officeDocument/2006/relationships/notesSlide" Target="../notesSlides/notesSlide23.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24.png"/>
<Relationship Id="rId3" Type="http://schemas.openxmlformats.org/officeDocument/2006/relationships/notesSlide" Target="../notesSlides/notesSlide24.xml"/>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25.png"/>
<Relationship Id="rId3" Type="http://schemas.openxmlformats.org/officeDocument/2006/relationships/notesSlide" Target="../notesSlides/notesSlide25.xml"/>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26.png"/>
<Relationship Id="rId3" Type="http://schemas.openxmlformats.org/officeDocument/2006/relationships/notesSlide" Target="../notesSlides/notesSlide26.xml"/>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27.png"/>
<Relationship Id="rId3" Type="http://schemas.openxmlformats.org/officeDocument/2006/relationships/notesSlide" Target="../notesSlides/notesSlide27.xml"/>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28.png"/>
<Relationship Id="rId3" Type="http://schemas.openxmlformats.org/officeDocument/2006/relationships/notesSlide" Target="../notesSlides/notesSlide28.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3"/>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4"/>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5"/>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6"/>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7"/>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8"/>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9"/>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0"/>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1"/>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2"/>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3"/>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4"/>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5"/>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6"/>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7"/>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8"/>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9"/>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0"/>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1"/>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2"/>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3"/>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4"/>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5"/>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6"/>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7"/>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8"/>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HS deck">
  <a:themeElements>
    <a:clrScheme name="HS">
      <a:dk1>
        <a:sysClr val="windowText" lastClr="000000"/>
      </a:dk1>
      <a:lt1>
        <a:sysClr val="window" lastClr="FFFFFF"/>
      </a:lt1>
      <a:dk2>
        <a:srgbClr val="1B1B1B"/>
      </a:dk2>
      <a:lt2>
        <a:srgbClr val="F5F5F5"/>
      </a:lt2>
      <a:accent1>
        <a:srgbClr val="4B2696"/>
      </a:accent1>
      <a:accent2>
        <a:srgbClr val="FF3BC7"/>
      </a:accent2>
      <a:accent3>
        <a:srgbClr val="7A47EA"/>
      </a:accent3>
      <a:accent4>
        <a:srgbClr val="00A3C4"/>
      </a:accent4>
      <a:accent5>
        <a:srgbClr val="0F9D58"/>
      </a:accent5>
      <a:accent6>
        <a:srgbClr val="D93025"/>
      </a:accent6>
      <a:hlink>
        <a:srgbClr val="4B2696"/>
      </a:hlink>
      <a:folHlink>
        <a:srgbClr val="7A47EA"/>
      </a:folHlink>
    </a:clrScheme>
    <a:fontScheme name="HS">
      <a:majorFont>
        <a:latin typeface="Manrope"/>
        <a:ea typeface=""/>
        <a:cs typeface=""/>
      </a:majorFont>
      <a:minorFont>
        <a:latin typeface="Manrope"/>
        <a:ea typeface=""/>
        <a:cs typeface=""/>
      </a:minorFont>
    </a:fontScheme>
    <a:fmtScheme name="HS">
      <a:fillStyleLst>
        <a:solidFill>
          <a:schemeClr val="phClr"/>
        </a:solidFill>
        <a:solidFill>
          <a:schemeClr val="phClr"/>
        </a:solidFill>
        <a:solidFill>
          <a:schemeClr val="phClr"/>
        </a:solidFill>
      </a:fillStyleLst>
      <a:lnStyleLst>
        <a:ln w="6350">
          <a:solidFill>
            <a:schemeClr val="phClr"/>
          </a:solidFill>
        </a:ln>
        <a:ln w="12700">
          <a:solidFill>
            <a:schemeClr val="phClr"/>
          </a:solidFill>
        </a:ln>
        <a:ln w="190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HS notes">
  <a:themeElements>
    <a:clrScheme name="HS">
      <a:dk1>
        <a:sysClr val="windowText" lastClr="000000"/>
      </a:dk1>
      <a:lt1>
        <a:sysClr val="window" lastClr="FFFFFF"/>
      </a:lt1>
      <a:dk2>
        <a:srgbClr val="1B1B1B"/>
      </a:dk2>
      <a:lt2>
        <a:srgbClr val="F5F5F5"/>
      </a:lt2>
      <a:accent1>
        <a:srgbClr val="4B2696"/>
      </a:accent1>
      <a:accent2>
        <a:srgbClr val="FF3BC7"/>
      </a:accent2>
      <a:accent3>
        <a:srgbClr val="7A47EA"/>
      </a:accent3>
      <a:accent4>
        <a:srgbClr val="00A3C4"/>
      </a:accent4>
      <a:accent5>
        <a:srgbClr val="0F9D58"/>
      </a:accent5>
      <a:accent6>
        <a:srgbClr val="D93025"/>
      </a:accent6>
      <a:hlink>
        <a:srgbClr val="4B2696"/>
      </a:hlink>
      <a:folHlink>
        <a:srgbClr val="7A47EA"/>
      </a:folHlink>
    </a:clrScheme>
    <a:fontScheme name="HS">
      <a:majorFont>
        <a:latin typeface="Manrope"/>
        <a:ea typeface=""/>
        <a:cs typeface=""/>
      </a:majorFont>
      <a:minorFont>
        <a:latin typeface="Manrope"/>
        <a:ea typeface=""/>
        <a:cs typeface=""/>
      </a:minorFont>
    </a:fontScheme>
    <a:fmtScheme name="HS">
      <a:fillStyleLst>
        <a:solidFill>
          <a:schemeClr val="phClr"/>
        </a:solidFill>
        <a:solidFill>
          <a:schemeClr val="phClr"/>
        </a:solidFill>
        <a:solidFill>
          <a:schemeClr val="phClr"/>
        </a:solidFill>
      </a:fillStyleLst>
      <a:lnStyleLst>
        <a:ln w="6350">
          <a:solidFill>
            <a:schemeClr val="phClr"/>
          </a:solidFill>
        </a:ln>
        <a:ln w="12700">
          <a:solidFill>
            <a:schemeClr val="phClr"/>
          </a:solidFill>
        </a:ln>
        <a:ln w="190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